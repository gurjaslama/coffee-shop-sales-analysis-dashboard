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6256000" cy="9144000"/>
  <p:notesSz cx="9144000" cy="16256000"/>
  <p:embeddedFontLst>
    <p:embeddedFont>
      <p:font typeface="Oranienbaum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9F7866"/>
            </a:solidFill>
            <a:ln w="25400" cap="flat">
              <a:solidFill>
                <a:srgbClr val="9F78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9F78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F7866"/>
              </a:solidFill>
              <a:ln w="9525" cap="flat">
                <a:solidFill>
                  <a:srgbClr val="9F78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81678</c:v>
                </c:pt>
                <c:pt idx="1">
                  <c:v>76145</c:v>
                </c:pt>
                <c:pt idx="2">
                  <c:v>98835</c:v>
                </c:pt>
                <c:pt idx="3">
                  <c:v>118941</c:v>
                </c:pt>
                <c:pt idx="4">
                  <c:v>156728</c:v>
                </c:pt>
                <c:pt idx="5">
                  <c:v>166486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9F78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8A69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78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8a696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8A6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F7866"/>
              </a:solidFill>
              <a:effectLst/>
            </c:spPr>
          </c:dPt>
          <c:dPt>
            <c:idx val="1"/>
            <c:bubble3D val="0"/>
            <c:spPr>
              <a:solidFill>
                <a:srgbClr val="C8A696"/>
              </a:solidFill>
              <a:effectLst/>
            </c:spPr>
          </c:dPt>
          <c:dPt>
            <c:idx val="2"/>
            <c:bubble3D val="0"/>
            <c:spPr>
              <a:solidFill>
                <a:srgbClr val="7A5A4A"/>
              </a:solidFill>
              <a:effectLst/>
            </c:spPr>
          </c:dPt>
          <c:dPt>
            <c:idx val="3"/>
            <c:bubble3D val="0"/>
            <c:spPr>
              <a:solidFill>
                <a:srgbClr val="D4B5A5"/>
              </a:solidFill>
              <a:effectLst/>
            </c:spPr>
          </c:dPt>
          <c:dPt>
            <c:idx val="4"/>
            <c:bubble3D val="0"/>
            <c:spPr>
              <a:solidFill>
                <a:srgbClr val="E8D5C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38.6</c:v>
                </c:pt>
                <c:pt idx="1">
                  <c:v>28.1</c:v>
                </c:pt>
                <c:pt idx="2">
                  <c:v>11.8</c:v>
                </c:pt>
                <c:pt idx="3">
                  <c:v>10.4</c:v>
                </c:pt>
                <c:pt idx="4">
                  <c:v>11.1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9F786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9F78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9F78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Ethiopia</c:v>
                  </c:pt>
                  <c:pt idx="1">
                    <c:v>Jamaican Coffee River</c:v>
                  </c:pt>
                  <c:pt idx="2">
                    <c:v>Brazilian</c:v>
                  </c:pt>
                  <c:pt idx="3">
                    <c:v>Latte</c:v>
                  </c:pt>
                  <c:pt idx="4">
                    <c:v>Cappuccino</c:v>
                  </c:pt>
                  <c:pt idx="5">
                    <c:v>Columbian Medium</c:v>
                  </c:pt>
                  <c:pt idx="6">
                    <c:v>Our Old Time Diner</c:v>
                  </c:pt>
                  <c:pt idx="7">
                    <c:v>Espresso shot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42304</c:v>
                </c:pt>
                <c:pt idx="1">
                  <c:v>38781</c:v>
                </c:pt>
                <c:pt idx="2">
                  <c:v>37747</c:v>
                </c:pt>
                <c:pt idx="3">
                  <c:v>36370</c:v>
                </c:pt>
                <c:pt idx="4">
                  <c:v>33639</c:v>
                </c:pt>
                <c:pt idx="5">
                  <c:v>32309</c:v>
                </c:pt>
                <c:pt idx="6">
                  <c:v>31984</c:v>
                </c:pt>
                <c:pt idx="7">
                  <c:v>12495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9F78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78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c8a696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78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9F78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7AM</c:v>
                  </c:pt>
                  <c:pt idx="1">
                    <c:v>8AM</c:v>
                  </c:pt>
                  <c:pt idx="2">
                    <c:v>9AM</c:v>
                  </c:pt>
                  <c:pt idx="3">
                    <c:v>10AM</c:v>
                  </c:pt>
                  <c:pt idx="4">
                    <c:v>11AM</c:v>
                  </c:pt>
                  <c:pt idx="5">
                    <c:v>12PM</c:v>
                  </c:pt>
                  <c:pt idx="6">
                    <c:v>1PM</c:v>
                  </c:pt>
                  <c:pt idx="7">
                    <c:v>2PM</c:v>
                  </c:pt>
                  <c:pt idx="8">
                    <c:v>3PM</c:v>
                  </c:pt>
                  <c:pt idx="9">
                    <c:v>4PM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63526</c:v>
                </c:pt>
                <c:pt idx="1">
                  <c:v>82700</c:v>
                </c:pt>
                <c:pt idx="2">
                  <c:v>85170</c:v>
                </c:pt>
                <c:pt idx="3">
                  <c:v>88673</c:v>
                </c:pt>
                <c:pt idx="4">
                  <c:v>46319</c:v>
                </c:pt>
                <c:pt idx="5">
                  <c:v>40193</c:v>
                </c:pt>
                <c:pt idx="6">
                  <c:v>40367</c:v>
                </c:pt>
                <c:pt idx="7">
                  <c:v>41305</c:v>
                </c:pt>
                <c:pt idx="8">
                  <c:v>41733</c:v>
                </c:pt>
                <c:pt idx="9">
                  <c:v>41123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8A69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78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D9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3000" y="711200"/>
            <a:ext cx="127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752600" y="2032000"/>
            <a:ext cx="127508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US" sz="16000" dirty="0">
                <a:solidFill>
                  <a:srgbClr val="FFFFFF">
                    <a:alpha val="33333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COFFEE</a:t>
            </a:r>
            <a:endParaRPr lang="en-US" sz="1600" dirty="0"/>
          </a:p>
          <a:p>
            <a:pPr algn="ctr">
              <a:lnSpc>
                <a:spcPct val="105000"/>
              </a:lnSpc>
            </a:pPr>
            <a:r>
              <a:rPr lang="en-US" sz="16000" dirty="0">
                <a:solidFill>
                  <a:srgbClr val="FFFFFF">
                    <a:alpha val="33333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HOUSE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52600" y="3556000"/>
            <a:ext cx="127508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8000" i="1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Art of Coffee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4000" y="8051800"/>
            <a:ext cx="558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spc="200" kern="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H1 2023 — BUSINESS REPORT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D9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3000" y="2032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127508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US" sz="13000" dirty="0">
                <a:solidFill>
                  <a:srgbClr val="FFFFFF">
                    <a:alpha val="33333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52600" y="1651000"/>
            <a:ext cx="12750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6400" i="1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Index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0" y="4800600"/>
            <a:ext cx="6096000" cy="0"/>
          </a:xfrm>
          <a:prstGeom prst="straightConnector1">
            <a:avLst/>
          </a:prstGeom>
          <a:noFill/>
          <a:ln w="6350">
            <a:solidFill>
              <a:srgbClr val="C8A6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810000" y="4953000"/>
            <a:ext cx="863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 · Business Overview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0" y="5461000"/>
            <a:ext cx="6096000" cy="0"/>
          </a:xfrm>
          <a:prstGeom prst="straightConnector1">
            <a:avLst/>
          </a:prstGeom>
          <a:noFill/>
          <a:ln w="6350">
            <a:solidFill>
              <a:srgbClr val="C8A696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3810000" y="5562600"/>
            <a:ext cx="863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 · Product Insights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0" y="6070600"/>
            <a:ext cx="6096000" cy="0"/>
          </a:xfrm>
          <a:prstGeom prst="straightConnector1">
            <a:avLst/>
          </a:prstGeom>
          <a:noFill/>
          <a:ln w="6350">
            <a:solidFill>
              <a:srgbClr val="C8A696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810000" y="6172200"/>
            <a:ext cx="863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 · Customer Patterns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0000" y="6680200"/>
            <a:ext cx="6096000" cy="0"/>
          </a:xfrm>
          <a:prstGeom prst="straightConnector1">
            <a:avLst/>
          </a:prstGeom>
          <a:noFill/>
          <a:ln w="6350">
            <a:solidFill>
              <a:srgbClr val="C8A696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3810000" y="6781800"/>
            <a:ext cx="863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 · Key Takeaways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0000" y="7289800"/>
            <a:ext cx="6096000" cy="0"/>
          </a:xfrm>
          <a:prstGeom prst="straightConnector1">
            <a:avLst/>
          </a:prstGeom>
          <a:noFill/>
          <a:ln w="6350">
            <a:solidFill>
              <a:srgbClr val="C8A696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080000" y="7797800"/>
            <a:ext cx="6096000" cy="0"/>
          </a:xfrm>
          <a:prstGeom prst="straightConnector1">
            <a:avLst/>
          </a:prstGeom>
          <a:noFill/>
          <a:ln w="6350">
            <a:solidFill>
              <a:srgbClr val="C8A696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4732000" y="86360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28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D9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346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60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Business Overview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016000" y="533400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TOTAL REVENUE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16000" y="5867400"/>
            <a:ext cx="431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3600" b="1" dirty="0">
                <a:solidFill>
                  <a:srgbClr val="9F786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$698,812</a:t>
            </a:r>
            <a:endParaRPr lang="en-US" sz="18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Total revenue generated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across all three stores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in H1 2023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842000" y="533400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842000" y="5867400"/>
            <a:ext cx="431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3600" b="1" dirty="0">
                <a:solidFill>
                  <a:srgbClr val="9F786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149,116</a:t>
            </a:r>
            <a:endParaRPr lang="en-US" sz="18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Total transactions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processed from January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through June 2023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0" y="533400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ITEMS SOLD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68000" y="5867400"/>
            <a:ext cx="431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3600" b="1" dirty="0">
                <a:solidFill>
                  <a:srgbClr val="9F786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214,470</a:t>
            </a:r>
            <a:endParaRPr lang="en-US" sz="18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Total items sold across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9 product categories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and 29 product types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732000" y="86360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28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D9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346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60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Performance</a:t>
            </a:r>
            <a:endParaRPr lang="en-US" sz="6000" dirty="0"/>
          </a:p>
          <a:p>
            <a:pPr>
              <a:lnSpc>
                <a:spcPct val="110000"/>
              </a:lnSpc>
            </a:pPr>
            <a:r>
              <a:rPr lang="en-US" sz="60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Highlights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4064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0000" dirty="0">
                <a:solidFill>
                  <a:srgbClr val="9F7866">
                    <a:alpha val="13333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46990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TOTAL</a:t>
            </a:r>
            <a:endParaRPr lang="en-US" sz="2200" dirty="0"/>
          </a:p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REVENUE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16000" y="57150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5000"/>
              </a:lnSpc>
            </a:pPr>
            <a:r>
              <a:rPr lang="en-US" sz="4200" b="1" dirty="0">
                <a:solidFill>
                  <a:srgbClr val="9F786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$698,812</a:t>
            </a:r>
            <a:endParaRPr lang="en-US" sz="1800" dirty="0"/>
          </a:p>
          <a:p>
            <a:pPr algn="ctr">
              <a:lnSpc>
                <a:spcPct val="165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Revenue generated across</a:t>
            </a:r>
            <a:endParaRPr lang="en-US" sz="1800" dirty="0"/>
          </a:p>
          <a:p>
            <a:pPr algn="ctr"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three NYC locations in</a:t>
            </a:r>
            <a:endParaRPr lang="en-US" sz="1800" dirty="0"/>
          </a:p>
          <a:p>
            <a:pPr algn="ctr"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the first half of 2023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69000" y="3048000"/>
            <a:ext cx="4064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0000" dirty="0">
                <a:solidFill>
                  <a:srgbClr val="9F7866">
                    <a:alpha val="13333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69000" y="46990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TOTAL</a:t>
            </a:r>
            <a:endParaRPr lang="en-US" sz="2200" dirty="0"/>
          </a:p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ORDERS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69000" y="57150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5000"/>
              </a:lnSpc>
            </a:pPr>
            <a:r>
              <a:rPr lang="en-US" sz="4200" b="1" dirty="0">
                <a:solidFill>
                  <a:srgbClr val="9F786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149,116</a:t>
            </a:r>
            <a:endParaRPr lang="en-US" sz="1800" dirty="0"/>
          </a:p>
          <a:p>
            <a:pPr algn="ctr">
              <a:lnSpc>
                <a:spcPct val="165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Transactions processed</a:t>
            </a:r>
            <a:endParaRPr lang="en-US" sz="1800" dirty="0"/>
          </a:p>
          <a:p>
            <a:pPr algn="ctr"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with an average of</a:t>
            </a:r>
            <a:endParaRPr lang="en-US" sz="1800" dirty="0"/>
          </a:p>
          <a:p>
            <a:pPr algn="ctr"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24,853 orders per month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22000" y="3048000"/>
            <a:ext cx="4064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0000" dirty="0">
                <a:solidFill>
                  <a:srgbClr val="9F7866">
                    <a:alpha val="13333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22000" y="46990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AVERAGE</a:t>
            </a:r>
            <a:endParaRPr lang="en-US" sz="2200" dirty="0"/>
          </a:p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TICKET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22000" y="57150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5000"/>
              </a:lnSpc>
            </a:pPr>
            <a:r>
              <a:rPr lang="en-US" sz="4200" b="1" dirty="0">
                <a:solidFill>
                  <a:srgbClr val="9F786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$4.69</a:t>
            </a:r>
            <a:endParaRPr lang="en-US" sz="1800" dirty="0"/>
          </a:p>
          <a:p>
            <a:pPr algn="ctr">
              <a:lnSpc>
                <a:spcPct val="165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Average transaction value</a:t>
            </a:r>
            <a:endParaRPr lang="en-US" sz="1800" dirty="0"/>
          </a:p>
          <a:p>
            <a:pPr algn="ctr"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reflecting strong customer</a:t>
            </a:r>
            <a:endParaRPr lang="en-US" sz="1800" dirty="0"/>
          </a:p>
          <a:p>
            <a:pPr algn="ctr"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loyalty and repeat visits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66000" y="84074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28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9144000"/>
          </a:xfrm>
          <a:prstGeom prst="rect">
            <a:avLst/>
          </a:prstGeom>
          <a:solidFill>
            <a:srgbClr val="EFD9D5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0"/>
            <a:ext cx="8128000" cy="914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2700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60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Monthly</a:t>
            </a:r>
            <a:endParaRPr lang="en-US" sz="6000" dirty="0"/>
          </a:p>
          <a:p>
            <a:pPr>
              <a:lnSpc>
                <a:spcPct val="110000"/>
              </a:lnSpc>
            </a:pPr>
            <a:r>
              <a:rPr lang="en-US" sz="60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Growth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16000" y="4318000"/>
            <a:ext cx="635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9F7866">
                    <a:alpha val="9412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8255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890000" y="762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REVENUE TREND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890000" y="1270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Steady growth from January through June,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with </a:t>
            </a:r>
            <a:pPr>
              <a:lnSpc>
                <a:spcPct val="165000"/>
              </a:lnSpc>
            </a:pPr>
            <a:r>
              <a:rPr lang="en-US" sz="1800" b="1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+104%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 increase in monthly revenue.</a:t>
            </a:r>
            <a:endParaRPr lang="en-US" sz="1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636000" y="2540000"/>
          <a:ext cx="7112000" cy="558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D9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346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60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Product Insights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016000" y="533400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COFFEE LEADS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16000" y="5867400"/>
            <a:ext cx="431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3600" b="1" dirty="0">
                <a:solidFill>
                  <a:srgbClr val="9F786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38.6%</a:t>
            </a:r>
            <a:endParaRPr lang="en-US" sz="18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Coffee dominates revenue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share as the flagship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product category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842000" y="533400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TEA HOLDS STRONG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842000" y="5867400"/>
            <a:ext cx="431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3600" b="1" dirty="0">
                <a:solidFill>
                  <a:srgbClr val="9F786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28.1%</a:t>
            </a:r>
            <a:endParaRPr lang="en-US" sz="18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Tea remains the second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largest revenue driver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in the portfolio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0" y="533400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CATEGORIES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68000" y="5867400"/>
            <a:ext cx="431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3600" b="1" dirty="0">
                <a:solidFill>
                  <a:srgbClr val="9F786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9</a:t>
            </a:r>
            <a:endParaRPr lang="en-US" sz="18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Product categories across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coffee, tea, bakery,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and specialty items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732000" y="86360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</a:t>
            </a:r>
            <a:endParaRPr lang="en-US" sz="28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914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0"/>
            <a:ext cx="8128000" cy="9144000"/>
          </a:xfrm>
          <a:prstGeom prst="rect">
            <a:avLst/>
          </a:prstGeom>
          <a:solidFill>
            <a:srgbClr val="EFD9D5"/>
          </a:solidFill>
          <a:ln/>
        </p:spPr>
      </p:sp>
      <p:sp>
        <p:nvSpPr>
          <p:cNvPr id="4" name="Text 2"/>
          <p:cNvSpPr/>
          <p:nvPr/>
        </p:nvSpPr>
        <p:spPr>
          <a:xfrm>
            <a:off x="14478000" y="2032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8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270000"/>
            <a:ext cx="685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6000" b="1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Revenue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6000" b="1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by Category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4724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CATEGORY BREAKDOWN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000" y="5232400"/>
            <a:ext cx="685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Coffee and Tea together account for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b="1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66.7%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 of total revenue, establishing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the core beverage business as the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primary growth engine.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7239000"/>
            <a:ext cx="685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Bakery and Drinking Chocolate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complement the offering with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an additional </a:t>
            </a:r>
            <a:pPr>
              <a:lnSpc>
                <a:spcPct val="165000"/>
              </a:lnSpc>
            </a:pPr>
            <a:r>
              <a:rPr lang="en-US" sz="1800" b="1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22.2%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 of sales.</a:t>
            </a:r>
            <a:endParaRPr lang="en-US" sz="1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382000" y="1016000"/>
          <a:ext cx="7620000" cy="711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9144000"/>
          </a:xfrm>
          <a:prstGeom prst="rect">
            <a:avLst/>
          </a:prstGeom>
          <a:solidFill>
            <a:srgbClr val="EFD9D5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0"/>
            <a:ext cx="8128000" cy="914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2700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60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Top Coffee</a:t>
            </a:r>
            <a:endParaRPr lang="en-US" sz="6000" dirty="0"/>
          </a:p>
          <a:p>
            <a:pPr>
              <a:lnSpc>
                <a:spcPct val="110000"/>
              </a:lnSpc>
            </a:pPr>
            <a:r>
              <a:rPr lang="en-US" sz="60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Products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16000" y="4318000"/>
            <a:ext cx="635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9F7866">
                    <a:alpha val="9412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8255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890000" y="762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BESTSELLERS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890000" y="1270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Leading products by revenue contribution</a:t>
            </a:r>
            <a:endParaRPr lang="en-US" sz="1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636000" y="2286000"/>
          <a:ext cx="7112000" cy="584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D9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346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60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Customer Patterns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016000" y="533400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PEAK HOUR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16000" y="5867400"/>
            <a:ext cx="431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3600" b="1" dirty="0">
                <a:solidFill>
                  <a:srgbClr val="9F786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10 AM</a:t>
            </a:r>
            <a:endParaRPr lang="en-US" sz="18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Morning rush generates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$88,673 in revenue —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the busiest hour of the day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842000" y="533400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TOP STORE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842000" y="5867400"/>
            <a:ext cx="431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3600" b="1" dirty="0">
                <a:solidFill>
                  <a:srgbClr val="9F786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Hell's Kitchen</a:t>
            </a:r>
            <a:endParaRPr lang="en-US" sz="18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Leading location with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$236,511 in revenue —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33.8% of total sales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0" y="533400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PREFERRED SIZE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68000" y="5867400"/>
            <a:ext cx="431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3600" b="1" dirty="0">
                <a:solidFill>
                  <a:srgbClr val="9F786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Large</a:t>
            </a:r>
            <a:endParaRPr lang="en-US" sz="18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Large size drives 34%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of revenue, followed by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Regular at 28.6%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732000" y="86360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</a:t>
            </a:r>
            <a:endParaRPr lang="en-US" sz="28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914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0"/>
            <a:ext cx="8128000" cy="9144000"/>
          </a:xfrm>
          <a:prstGeom prst="rect">
            <a:avLst/>
          </a:prstGeom>
          <a:solidFill>
            <a:srgbClr val="EFD9D5"/>
          </a:solidFill>
          <a:ln/>
        </p:spPr>
      </p:sp>
      <p:sp>
        <p:nvSpPr>
          <p:cNvPr id="4" name="Text 2"/>
          <p:cNvSpPr/>
          <p:nvPr/>
        </p:nvSpPr>
        <p:spPr>
          <a:xfrm>
            <a:off x="14478000" y="127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8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635000"/>
            <a:ext cx="685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Peak Hours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8000" y="2286000"/>
          <a:ext cx="7366000" cy="584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890000" y="635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Store Performance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890000" y="203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HELL'S KITCHEN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90000" y="2540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3200" b="1" dirty="0">
                <a:solidFill>
                  <a:srgbClr val="9F786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$236,511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 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· 33.8%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890000" y="3276600"/>
            <a:ext cx="6096000" cy="76200"/>
          </a:xfrm>
          <a:prstGeom prst="rect">
            <a:avLst/>
          </a:prstGeom>
          <a:solidFill>
            <a:srgbClr val="9F7866"/>
          </a:solidFill>
          <a:ln/>
        </p:spPr>
      </p:sp>
      <p:sp>
        <p:nvSpPr>
          <p:cNvPr id="11" name="Text 8"/>
          <p:cNvSpPr/>
          <p:nvPr/>
        </p:nvSpPr>
        <p:spPr>
          <a:xfrm>
            <a:off x="8890000" y="3810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ASTORIA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890000" y="4318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3200" b="1" dirty="0">
                <a:solidFill>
                  <a:srgbClr val="9F786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$232,244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 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· 33.2%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890000" y="5054600"/>
            <a:ext cx="5981700" cy="76200"/>
          </a:xfrm>
          <a:prstGeom prst="rect">
            <a:avLst/>
          </a:prstGeom>
          <a:solidFill>
            <a:srgbClr val="C8A696"/>
          </a:solidFill>
          <a:ln/>
        </p:spPr>
      </p:sp>
      <p:sp>
        <p:nvSpPr>
          <p:cNvPr id="14" name="Text 11"/>
          <p:cNvSpPr/>
          <p:nvPr/>
        </p:nvSpPr>
        <p:spPr>
          <a:xfrm>
            <a:off x="8890000" y="5588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LOWER MANHATTAN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890000" y="6096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3200" b="1" dirty="0">
                <a:solidFill>
                  <a:srgbClr val="9F786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$230,057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 </a:t>
            </a:r>
            <a:pPr>
              <a:lnSpc>
                <a:spcPct val="165000"/>
              </a:lnSpc>
            </a:pPr>
            <a:r>
              <a:rPr lang="en-US" sz="14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· 32.9%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890000" y="6832600"/>
            <a:ext cx="5918200" cy="76200"/>
          </a:xfrm>
          <a:prstGeom prst="rect">
            <a:avLst/>
          </a:prstGeom>
          <a:solidFill>
            <a:srgbClr val="7A5A4A"/>
          </a:solidFill>
          <a:ln/>
        </p:spPr>
      </p:sp>
      <p:sp>
        <p:nvSpPr>
          <p:cNvPr id="17" name="Text 14"/>
          <p:cNvSpPr/>
          <p:nvPr/>
        </p:nvSpPr>
        <p:spPr>
          <a:xfrm>
            <a:off x="8890000" y="7366000"/>
            <a:ext cx="685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All three stores perform within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a </a:t>
            </a:r>
            <a:pPr>
              <a:lnSpc>
                <a:spcPct val="165000"/>
              </a:lnSpc>
            </a:pPr>
            <a:r>
              <a:rPr lang="en-US" sz="1800" b="1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1% margin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, showing balanced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geographic distribution.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9144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https://kimi-img.moonshot.cn/pub/slides/okc/djytnfrpyteyi/mnt/agents/output/coffee_ppt/images/8_150_100_Dark_Roast_Coffee_Stock_Photos.png">    </p:cNvPr>
          <p:cNvPicPr>
            <a:picLocks noChangeAspect="1"/>
          </p:cNvPicPr>
          <p:nvPr/>
        </p:nvPicPr>
        <p:blipFill>
          <a:blip r:embed="rId1"/>
          <a:srcRect l="20951" r="20951" t="0" b="0"/>
          <a:stretch/>
        </p:blipFill>
        <p:spPr>
          <a:xfrm>
            <a:off x="8128000" y="0"/>
            <a:ext cx="8128000" cy="914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78000" y="584200"/>
            <a:ext cx="127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1016000"/>
            <a:ext cx="685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5600" b="1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Every Cup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5600" b="1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Tells a Story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62000" y="43180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62000" y="4800600"/>
            <a:ext cx="685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Data reveals the narrative behind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every sip. From morning rush peaks to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Ethiopian bean preferences, our customers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shape the story we brew every day.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2000" y="68580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F786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H1 2023 AT A GLANCE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2000" y="73406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800" b="1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$698,812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 Revenue · </a:t>
            </a:r>
            <a:pPr>
              <a:lnSpc>
                <a:spcPct val="165000"/>
              </a:lnSpc>
            </a:pPr>
            <a:r>
              <a:rPr lang="en-US" sz="1800" b="1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149,116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 Orders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800" b="1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3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 Locations · </a:t>
            </a:r>
            <a:pPr>
              <a:lnSpc>
                <a:spcPct val="165000"/>
              </a:lnSpc>
            </a:pPr>
            <a:r>
              <a:rPr lang="en-US" sz="1800" b="1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9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 Categories · </a:t>
            </a:r>
            <a:pPr>
              <a:lnSpc>
                <a:spcPct val="165000"/>
              </a:lnSpc>
            </a:pPr>
            <a:r>
              <a:rPr lang="en-US" sz="1800" b="1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+104%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C8A696"/>
                </a:solidFill>
                <a:latin typeface="SortsMillGoudy" pitchFamily="34" charset="0"/>
                <a:ea typeface="SortsMillGoudy" pitchFamily="34" charset="-122"/>
                <a:cs typeface="SortsMillGoudy" pitchFamily="34" charset="-120"/>
              </a:rPr>
              <a:t> Growth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Coffee — Business Insights Report</dc:title>
  <dc:subject>The Art of Coffee — Business Insights Report</dc:subject>
  <dc:creator>Kimi</dc:creator>
  <cp:lastModifiedBy>Kimi</cp:lastModifiedBy>
  <cp:revision>1</cp:revision>
  <dcterms:created xsi:type="dcterms:W3CDTF">2026-05-16T17:52:38Z</dcterms:created>
  <dcterms:modified xsi:type="dcterms:W3CDTF">2026-05-16T17:52:38Z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{"Label":"The Art of Coffee — Business Insights Report","ContentProducer":"001191110108MACG2KBH8F10000","ProduceID":"19e31e5e-63b2-80ac-8000-0000abd61022","ReservedCode1":"","ContentPropagator":"001191110108MACG2KBH8F20000","PropagateID":"19e31e5e-63b2-80ac-8000-0000abd61022","ReservedCode2":""}</vt:lpwstr>
  </property>
</Properties>
</file>